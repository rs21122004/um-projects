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2A0F36-A884-420A-9BD1-3CC5C36744F9}" v="2378" dt="2024-07-08T10:41:46.0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dirty="0"/>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7/8/2024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585988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7/8/2024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29563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dirty="0"/>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7/8/2024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93760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dirty="0"/>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A954B2F-12DE-47F5-8894-472B206D2E1E}" type="datetimeFigureOut">
              <a:rPr lang="en-US" dirty="0"/>
              <a:t>7/8/2024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67941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dirty="0"/>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3F30E46F-7819-4ACF-B48B-48222C2ACC88}" type="datetimeFigureOut">
              <a:rPr lang="en-US" dirty="0"/>
              <a:t>7/8/2024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22944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7/8/2024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01537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7/8/2024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0213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7/8/2024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05167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dirty="0"/>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7/8/2024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0099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857E33E-8B18-4087-B112-809917729534}" type="datetimeFigureOut">
              <a:rPr lang="en-US" dirty="0"/>
              <a:t>7/8/2024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89104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dirty="0"/>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3FFE419-2371-464F-8239-3959401C3561}" type="datetimeFigureOut">
              <a:rPr lang="en-US" dirty="0"/>
              <a:t>7/8/2024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25789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Eigth level</a:t>
            </a:r>
          </a:p>
          <a:p>
            <a:pPr lvl="8"/>
            <a:r>
              <a:rPr lang="en-US" dirty="0"/>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7/8/2024</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0312160"/>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rdiogram">
            <a:extLst>
              <a:ext uri="{FF2B5EF4-FFF2-40B4-BE49-F238E27FC236}">
                <a16:creationId xmlns:a16="http://schemas.microsoft.com/office/drawing/2014/main" id="{A8CC0549-E544-E94D-842C-0949DC592150}"/>
              </a:ext>
            </a:extLst>
          </p:cNvPr>
          <p:cNvPicPr>
            <a:picLocks noChangeAspect="1"/>
          </p:cNvPicPr>
          <p:nvPr/>
        </p:nvPicPr>
        <p:blipFill rotWithShape="1">
          <a:blip r:embed="rId2">
            <a:alphaModFix amt="60000"/>
          </a:blip>
          <a:srcRect t="15294" r="-2" b="-2"/>
          <a:stretch/>
        </p:blipFill>
        <p:spPr>
          <a:xfrm>
            <a:off x="1" y="1"/>
            <a:ext cx="12192000" cy="6857999"/>
          </a:xfrm>
          <a:prstGeom prst="rect">
            <a:avLst/>
          </a:prstGeom>
        </p:spPr>
      </p:pic>
      <p:sp>
        <p:nvSpPr>
          <p:cNvPr id="2" name="Title 1"/>
          <p:cNvSpPr>
            <a:spLocks noGrp="1"/>
          </p:cNvSpPr>
          <p:nvPr>
            <p:ph type="ctrTitle"/>
          </p:nvPr>
        </p:nvSpPr>
        <p:spPr>
          <a:xfrm>
            <a:off x="2301923" y="1482602"/>
            <a:ext cx="7588155" cy="2236264"/>
          </a:xfrm>
        </p:spPr>
        <p:txBody>
          <a:bodyPr>
            <a:normAutofit/>
          </a:bodyPr>
          <a:lstStyle/>
          <a:p>
            <a:r>
              <a:rPr lang="en-US" sz="5400">
                <a:solidFill>
                  <a:srgbClr val="FFFFFF"/>
                </a:solidFill>
              </a:rPr>
              <a:t>Heart Disease Analysis</a:t>
            </a:r>
          </a:p>
        </p:txBody>
      </p:sp>
      <p:sp>
        <p:nvSpPr>
          <p:cNvPr id="3" name="Subtitle 2"/>
          <p:cNvSpPr>
            <a:spLocks noGrp="1"/>
          </p:cNvSpPr>
          <p:nvPr>
            <p:ph type="subTitle" idx="1"/>
          </p:nvPr>
        </p:nvSpPr>
        <p:spPr>
          <a:xfrm>
            <a:off x="2301923" y="3793937"/>
            <a:ext cx="7588155" cy="1414091"/>
          </a:xfrm>
        </p:spPr>
        <p:txBody>
          <a:bodyPr>
            <a:normAutofit/>
          </a:bodyPr>
          <a:lstStyle/>
          <a:p>
            <a:endParaRPr lang="en-US" sz="2200">
              <a:solidFill>
                <a:srgbClr val="FFFFFF"/>
              </a:solidFill>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5A65E-1257-D64D-0990-613601F09262}"/>
              </a:ext>
            </a:extLst>
          </p:cNvPr>
          <p:cNvSpPr>
            <a:spLocks noGrp="1"/>
          </p:cNvSpPr>
          <p:nvPr>
            <p:ph type="title"/>
          </p:nvPr>
        </p:nvSpPr>
        <p:spPr/>
        <p:txBody>
          <a:bodyPr>
            <a:normAutofit/>
          </a:bodyPr>
          <a:lstStyle/>
          <a:p>
            <a:pPr algn="ctr"/>
            <a:r>
              <a:rPr lang="en-US" sz="4400" dirty="0"/>
              <a:t>                           Initial Analysis</a:t>
            </a:r>
            <a:endParaRPr lang="en-US" dirty="0"/>
          </a:p>
        </p:txBody>
      </p:sp>
      <p:sp>
        <p:nvSpPr>
          <p:cNvPr id="3" name="Content Placeholder 2">
            <a:extLst>
              <a:ext uri="{FF2B5EF4-FFF2-40B4-BE49-F238E27FC236}">
                <a16:creationId xmlns:a16="http://schemas.microsoft.com/office/drawing/2014/main" id="{EBF2D33F-9BCB-DF6B-6136-F09314B5201C}"/>
              </a:ext>
            </a:extLst>
          </p:cNvPr>
          <p:cNvSpPr>
            <a:spLocks noGrp="1"/>
          </p:cNvSpPr>
          <p:nvPr>
            <p:ph idx="1"/>
          </p:nvPr>
        </p:nvSpPr>
        <p:spPr/>
        <p:txBody>
          <a:bodyPr vert="horz" lIns="91440" tIns="45720" rIns="91440" bIns="45720" rtlCol="0" anchor="t">
            <a:normAutofit lnSpcReduction="10000"/>
          </a:bodyPr>
          <a:lstStyle/>
          <a:p>
            <a:pPr marL="457200" indent="-457200">
              <a:buAutoNum type="arabicPeriod"/>
            </a:pPr>
            <a:r>
              <a:rPr lang="en-US" sz="2400" dirty="0"/>
              <a:t>From the initial analysis of the dataset, it was found that 526 of the patients were targets of heart disease while 499 were not.</a:t>
            </a:r>
          </a:p>
          <a:p>
            <a:pPr marL="457200" indent="-457200">
              <a:buAutoNum type="arabicPeriod"/>
            </a:pPr>
            <a:r>
              <a:rPr lang="en-US" sz="2400" dirty="0"/>
              <a:t>Out of these, among the male patients a majority of them were not targets with roughly 300 being targets while roughly 400 were not. Among females, a majority were targets of heart disease in contrast to males with the proportion of targets being significantly higher.</a:t>
            </a:r>
            <a:endParaRPr lang="en-US" sz="2400" dirty="0">
              <a:cs typeface="Arial"/>
            </a:endParaRPr>
          </a:p>
          <a:p>
            <a:pPr marL="0" indent="0">
              <a:buNone/>
            </a:pPr>
            <a:endParaRPr lang="en-US" dirty="0">
              <a:cs typeface="Arial" panose="020B0604020202020204"/>
            </a:endParaRPr>
          </a:p>
          <a:p>
            <a:pPr marL="457200" indent="-457200">
              <a:buAutoNum type="arabicPeriod"/>
            </a:pPr>
            <a:endParaRPr lang="en-US" dirty="0"/>
          </a:p>
          <a:p>
            <a:pPr marL="457200" indent="-457200">
              <a:buAutoNum type="arabicPeriod"/>
            </a:pPr>
            <a:endParaRPr lang="en-US" dirty="0">
              <a:cs typeface="Arial" panose="020B0604020202020204"/>
            </a:endParaRPr>
          </a:p>
        </p:txBody>
      </p:sp>
    </p:spTree>
    <p:extLst>
      <p:ext uri="{BB962C8B-B14F-4D97-AF65-F5344CB8AC3E}">
        <p14:creationId xmlns:p14="http://schemas.microsoft.com/office/powerpoint/2010/main" val="1041363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9A89D-A99F-C936-E886-08F1132A5B11}"/>
              </a:ext>
            </a:extLst>
          </p:cNvPr>
          <p:cNvSpPr>
            <a:spLocks noGrp="1"/>
          </p:cNvSpPr>
          <p:nvPr>
            <p:ph type="title"/>
          </p:nvPr>
        </p:nvSpPr>
        <p:spPr/>
        <p:txBody>
          <a:bodyPr/>
          <a:lstStyle/>
          <a:p>
            <a:r>
              <a:rPr lang="en-US" dirty="0">
                <a:cs typeface="Arial"/>
              </a:rPr>
              <a:t>Fasting Blood Sugar</a:t>
            </a:r>
            <a:endParaRPr lang="en-US" dirty="0"/>
          </a:p>
        </p:txBody>
      </p:sp>
      <p:sp>
        <p:nvSpPr>
          <p:cNvPr id="3" name="Content Placeholder 2">
            <a:extLst>
              <a:ext uri="{FF2B5EF4-FFF2-40B4-BE49-F238E27FC236}">
                <a16:creationId xmlns:a16="http://schemas.microsoft.com/office/drawing/2014/main" id="{B90C0814-296A-D549-47D0-44FA745D282A}"/>
              </a:ext>
            </a:extLst>
          </p:cNvPr>
          <p:cNvSpPr>
            <a:spLocks noGrp="1"/>
          </p:cNvSpPr>
          <p:nvPr>
            <p:ph idx="1"/>
          </p:nvPr>
        </p:nvSpPr>
        <p:spPr/>
        <p:txBody>
          <a:bodyPr/>
          <a:lstStyle/>
          <a:p>
            <a:pPr marL="344170" indent="-344170"/>
            <a:r>
              <a:rPr lang="en-US" sz="2400" dirty="0">
                <a:cs typeface="Arial"/>
              </a:rPr>
              <a:t>1.Among those who had fasting blood sugar levels below 120 mg/dl, targets of heart disease were slightly more than those not targeted by it. </a:t>
            </a:r>
            <a:endParaRPr lang="en-US" sz="2400">
              <a:cs typeface="Arial"/>
            </a:endParaRPr>
          </a:p>
          <a:p>
            <a:pPr marL="344170" indent="-344170"/>
            <a:r>
              <a:rPr lang="en-US" sz="2400" dirty="0">
                <a:cs typeface="Arial"/>
              </a:rPr>
              <a:t>In stark contrast, those with blood sugar levels above 120 mg/dl had less people targeted by heart disease.</a:t>
            </a:r>
          </a:p>
          <a:p>
            <a:pPr marL="344170" indent="-344170"/>
            <a:r>
              <a:rPr lang="en-US" sz="2400" dirty="0">
                <a:cs typeface="Arial"/>
              </a:rPr>
              <a:t>This is in an indicator of fasting blood sugar levels not having a direct relation with the presence of heart disease.</a:t>
            </a:r>
          </a:p>
        </p:txBody>
      </p:sp>
    </p:spTree>
    <p:extLst>
      <p:ext uri="{BB962C8B-B14F-4D97-AF65-F5344CB8AC3E}">
        <p14:creationId xmlns:p14="http://schemas.microsoft.com/office/powerpoint/2010/main" val="764321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EF76F-B118-75B4-6A01-151C823DF773}"/>
              </a:ext>
            </a:extLst>
          </p:cNvPr>
          <p:cNvSpPr>
            <a:spLocks noGrp="1"/>
          </p:cNvSpPr>
          <p:nvPr>
            <p:ph type="title"/>
          </p:nvPr>
        </p:nvSpPr>
        <p:spPr/>
        <p:txBody>
          <a:bodyPr/>
          <a:lstStyle/>
          <a:p>
            <a:r>
              <a:rPr lang="en-US" dirty="0">
                <a:cs typeface="Arial"/>
              </a:rPr>
              <a:t>Resting Blood Pressure</a:t>
            </a:r>
            <a:endParaRPr lang="en-US" dirty="0"/>
          </a:p>
        </p:txBody>
      </p:sp>
      <p:sp>
        <p:nvSpPr>
          <p:cNvPr id="3" name="Content Placeholder 2">
            <a:extLst>
              <a:ext uri="{FF2B5EF4-FFF2-40B4-BE49-F238E27FC236}">
                <a16:creationId xmlns:a16="http://schemas.microsoft.com/office/drawing/2014/main" id="{FC9F9006-FA79-F0D5-79F0-4CA2B1639C25}"/>
              </a:ext>
            </a:extLst>
          </p:cNvPr>
          <p:cNvSpPr>
            <a:spLocks noGrp="1"/>
          </p:cNvSpPr>
          <p:nvPr>
            <p:ph idx="1"/>
          </p:nvPr>
        </p:nvSpPr>
        <p:spPr/>
        <p:txBody>
          <a:bodyPr/>
          <a:lstStyle/>
          <a:p>
            <a:pPr marL="344170" indent="-344170"/>
            <a:r>
              <a:rPr lang="en-US" sz="2400" dirty="0">
                <a:cs typeface="Arial"/>
              </a:rPr>
              <a:t>We find that a very large number of people were found to have resting blood pressure levels above 120 and ranging till 140. After 140, the count decreased substantially in comparison.</a:t>
            </a:r>
          </a:p>
          <a:p>
            <a:pPr marL="344170" indent="-344170"/>
            <a:r>
              <a:rPr lang="en-US" sz="2400" dirty="0">
                <a:cs typeface="Arial"/>
              </a:rPr>
              <a:t>Those with systolic pressure between 120 and 140 can said to be on the cusp of hypertension and should take immediate steps to improve their health and prevent complications in the future.</a:t>
            </a:r>
          </a:p>
        </p:txBody>
      </p:sp>
    </p:spTree>
    <p:extLst>
      <p:ext uri="{BB962C8B-B14F-4D97-AF65-F5344CB8AC3E}">
        <p14:creationId xmlns:p14="http://schemas.microsoft.com/office/powerpoint/2010/main" val="1464358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35C6F-9147-DD46-97B8-3B1519C83536}"/>
              </a:ext>
            </a:extLst>
          </p:cNvPr>
          <p:cNvSpPr>
            <a:spLocks noGrp="1"/>
          </p:cNvSpPr>
          <p:nvPr>
            <p:ph type="title"/>
          </p:nvPr>
        </p:nvSpPr>
        <p:spPr/>
        <p:txBody>
          <a:bodyPr/>
          <a:lstStyle/>
          <a:p>
            <a:r>
              <a:rPr lang="en-US" dirty="0">
                <a:cs typeface="Arial"/>
              </a:rPr>
              <a:t>Age Count</a:t>
            </a:r>
            <a:endParaRPr lang="en-US" dirty="0"/>
          </a:p>
        </p:txBody>
      </p:sp>
      <p:sp>
        <p:nvSpPr>
          <p:cNvPr id="3" name="Content Placeholder 2">
            <a:extLst>
              <a:ext uri="{FF2B5EF4-FFF2-40B4-BE49-F238E27FC236}">
                <a16:creationId xmlns:a16="http://schemas.microsoft.com/office/drawing/2014/main" id="{2E6C5222-1C5F-4D6C-4861-32749A75B220}"/>
              </a:ext>
            </a:extLst>
          </p:cNvPr>
          <p:cNvSpPr>
            <a:spLocks noGrp="1"/>
          </p:cNvSpPr>
          <p:nvPr>
            <p:ph idx="1"/>
          </p:nvPr>
        </p:nvSpPr>
        <p:spPr/>
        <p:txBody>
          <a:bodyPr/>
          <a:lstStyle/>
          <a:p>
            <a:pPr marL="344170" indent="-344170"/>
            <a:r>
              <a:rPr lang="en-US" sz="2400" dirty="0">
                <a:cs typeface="Arial"/>
              </a:rPr>
              <a:t>The data shows that among the people below 41 years of age, very few </a:t>
            </a:r>
            <a:r>
              <a:rPr lang="en-US" sz="2400" dirty="0" err="1">
                <a:cs typeface="Arial"/>
              </a:rPr>
              <a:t>i.e</a:t>
            </a:r>
            <a:r>
              <a:rPr lang="en-US" sz="2400" dirty="0">
                <a:cs typeface="Arial"/>
              </a:rPr>
              <a:t> less than 10 are targeted by heart disease.</a:t>
            </a:r>
          </a:p>
          <a:p>
            <a:pPr marL="344170" indent="-344170"/>
            <a:r>
              <a:rPr lang="en-US" sz="2400" dirty="0">
                <a:cs typeface="Arial"/>
              </a:rPr>
              <a:t>After 41 years of age, the number of people targeted increased substantially with another similar peak in those targeted at 51 years of age.</a:t>
            </a:r>
          </a:p>
          <a:p>
            <a:pPr marL="344170" indent="-344170"/>
            <a:r>
              <a:rPr lang="en-US" sz="2400" dirty="0">
                <a:cs typeface="Arial"/>
              </a:rPr>
              <a:t>After 55 years of age, majority of the people were not targeted by heart disease as shown from the data.</a:t>
            </a:r>
          </a:p>
        </p:txBody>
      </p:sp>
    </p:spTree>
    <p:extLst>
      <p:ext uri="{BB962C8B-B14F-4D97-AF65-F5344CB8AC3E}">
        <p14:creationId xmlns:p14="http://schemas.microsoft.com/office/powerpoint/2010/main" val="21609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49BD7-9B9A-65C3-7DDA-0BCE9E7C1013}"/>
              </a:ext>
            </a:extLst>
          </p:cNvPr>
          <p:cNvSpPr>
            <a:spLocks noGrp="1"/>
          </p:cNvSpPr>
          <p:nvPr>
            <p:ph type="title"/>
          </p:nvPr>
        </p:nvSpPr>
        <p:spPr/>
        <p:txBody>
          <a:bodyPr/>
          <a:lstStyle/>
          <a:p>
            <a:r>
              <a:rPr lang="en-US" dirty="0">
                <a:cs typeface="Arial"/>
              </a:rPr>
              <a:t>Chest Pain</a:t>
            </a:r>
            <a:endParaRPr lang="en-US" dirty="0"/>
          </a:p>
        </p:txBody>
      </p:sp>
      <p:sp>
        <p:nvSpPr>
          <p:cNvPr id="3" name="Content Placeholder 2">
            <a:extLst>
              <a:ext uri="{FF2B5EF4-FFF2-40B4-BE49-F238E27FC236}">
                <a16:creationId xmlns:a16="http://schemas.microsoft.com/office/drawing/2014/main" id="{F1072078-80FB-3A27-AFA6-7CF81370C91D}"/>
              </a:ext>
            </a:extLst>
          </p:cNvPr>
          <p:cNvSpPr>
            <a:spLocks noGrp="1"/>
          </p:cNvSpPr>
          <p:nvPr>
            <p:ph idx="1"/>
          </p:nvPr>
        </p:nvSpPr>
        <p:spPr/>
        <p:txBody>
          <a:bodyPr>
            <a:normAutofit fontScale="85000" lnSpcReduction="20000"/>
          </a:bodyPr>
          <a:lstStyle/>
          <a:p>
            <a:pPr marL="344170" indent="-344170"/>
            <a:r>
              <a:rPr lang="en-US" sz="2400" dirty="0">
                <a:cs typeface="Arial"/>
              </a:rPr>
              <a:t>The first type of chest pain among the 4 which is also the most common chest pain experienced  was the </a:t>
            </a:r>
            <a:r>
              <a:rPr lang="en-US" sz="2400" u="sng" dirty="0">
                <a:cs typeface="Arial"/>
              </a:rPr>
              <a:t>only one</a:t>
            </a:r>
            <a:r>
              <a:rPr lang="en-US" sz="2400" dirty="0">
                <a:cs typeface="Arial"/>
              </a:rPr>
              <a:t> to have less people targeted, while all others had more people targeted by heart disease.</a:t>
            </a:r>
          </a:p>
          <a:p>
            <a:pPr marL="344170" indent="-344170"/>
            <a:r>
              <a:rPr lang="en-US" sz="2400" dirty="0">
                <a:cs typeface="Arial"/>
              </a:rPr>
              <a:t>The highest proportion of people targeted by heart disease had chest pain of type 2.</a:t>
            </a:r>
          </a:p>
          <a:p>
            <a:pPr marL="344170" indent="-344170"/>
            <a:r>
              <a:rPr lang="en-US" sz="2400" dirty="0">
                <a:cs typeface="Arial"/>
              </a:rPr>
              <a:t>From the age distribution of chest pain, it is observed that females always were older for each variety of chest pain with the oldest having chest pain type 3.</a:t>
            </a:r>
          </a:p>
          <a:p>
            <a:pPr marL="344170" indent="-344170"/>
            <a:r>
              <a:rPr lang="en-US" sz="2400" dirty="0">
                <a:cs typeface="Arial"/>
              </a:rPr>
              <a:t>Females are taking a longer time to reach chest pain type 3.</a:t>
            </a:r>
          </a:p>
        </p:txBody>
      </p:sp>
    </p:spTree>
    <p:extLst>
      <p:ext uri="{BB962C8B-B14F-4D97-AF65-F5344CB8AC3E}">
        <p14:creationId xmlns:p14="http://schemas.microsoft.com/office/powerpoint/2010/main" val="4008544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5CB1-61A1-8BE2-F55A-DAC24308AB8A}"/>
              </a:ext>
            </a:extLst>
          </p:cNvPr>
          <p:cNvSpPr>
            <a:spLocks noGrp="1"/>
          </p:cNvSpPr>
          <p:nvPr>
            <p:ph type="title"/>
          </p:nvPr>
        </p:nvSpPr>
        <p:spPr/>
        <p:txBody>
          <a:bodyPr/>
          <a:lstStyle/>
          <a:p>
            <a:r>
              <a:rPr lang="en-US" dirty="0">
                <a:cs typeface="Arial"/>
              </a:rPr>
              <a:t>Cholesterol</a:t>
            </a:r>
            <a:endParaRPr lang="en-US" dirty="0" err="1"/>
          </a:p>
        </p:txBody>
      </p:sp>
      <p:sp>
        <p:nvSpPr>
          <p:cNvPr id="3" name="Content Placeholder 2">
            <a:extLst>
              <a:ext uri="{FF2B5EF4-FFF2-40B4-BE49-F238E27FC236}">
                <a16:creationId xmlns:a16="http://schemas.microsoft.com/office/drawing/2014/main" id="{127D66D6-5077-8053-51F2-A88D13242393}"/>
              </a:ext>
            </a:extLst>
          </p:cNvPr>
          <p:cNvSpPr>
            <a:spLocks noGrp="1"/>
          </p:cNvSpPr>
          <p:nvPr>
            <p:ph idx="1"/>
          </p:nvPr>
        </p:nvSpPr>
        <p:spPr/>
        <p:txBody>
          <a:bodyPr/>
          <a:lstStyle/>
          <a:p>
            <a:pPr marL="344170" indent="-344170"/>
            <a:r>
              <a:rPr lang="en-US" dirty="0">
                <a:cs typeface="Arial"/>
              </a:rPr>
              <a:t>Highest number of people were found to have cholesterol levels ranging between 200 and 275 mg/dl.</a:t>
            </a:r>
          </a:p>
          <a:p>
            <a:pPr marL="344170" indent="-344170"/>
            <a:r>
              <a:rPr lang="en-US" dirty="0">
                <a:cs typeface="Arial"/>
              </a:rPr>
              <a:t>Some anomalies were found to have approximately 400mg/dl of cholesterol which is considered dangerous.</a:t>
            </a:r>
          </a:p>
          <a:p>
            <a:pPr marL="344170" indent="-344170"/>
            <a:r>
              <a:rPr lang="en-US" dirty="0">
                <a:cs typeface="Arial"/>
              </a:rPr>
              <a:t>People with higher levels of cholesterol are at a higher risk of developing heart disease.</a:t>
            </a:r>
          </a:p>
          <a:p>
            <a:pPr marL="344170" indent="-344170"/>
            <a:endParaRPr lang="en-US" dirty="0">
              <a:cs typeface="Arial"/>
            </a:endParaRPr>
          </a:p>
        </p:txBody>
      </p:sp>
    </p:spTree>
    <p:extLst>
      <p:ext uri="{BB962C8B-B14F-4D97-AF65-F5344CB8AC3E}">
        <p14:creationId xmlns:p14="http://schemas.microsoft.com/office/powerpoint/2010/main" val="704793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38AA-D3FD-99D1-2679-05B733AD233A}"/>
              </a:ext>
            </a:extLst>
          </p:cNvPr>
          <p:cNvSpPr>
            <a:spLocks noGrp="1"/>
          </p:cNvSpPr>
          <p:nvPr>
            <p:ph type="title"/>
          </p:nvPr>
        </p:nvSpPr>
        <p:spPr/>
        <p:txBody>
          <a:bodyPr/>
          <a:lstStyle/>
          <a:p>
            <a:r>
              <a:rPr lang="en-US" dirty="0">
                <a:cs typeface="Arial"/>
              </a:rPr>
              <a:t>Concluding Remarks</a:t>
            </a:r>
            <a:endParaRPr lang="en-US" dirty="0"/>
          </a:p>
        </p:txBody>
      </p:sp>
      <p:sp>
        <p:nvSpPr>
          <p:cNvPr id="3" name="Content Placeholder 2">
            <a:extLst>
              <a:ext uri="{FF2B5EF4-FFF2-40B4-BE49-F238E27FC236}">
                <a16:creationId xmlns:a16="http://schemas.microsoft.com/office/drawing/2014/main" id="{D1FABC83-B0ED-894F-4C52-221E59C5193C}"/>
              </a:ext>
            </a:extLst>
          </p:cNvPr>
          <p:cNvSpPr>
            <a:spLocks noGrp="1"/>
          </p:cNvSpPr>
          <p:nvPr>
            <p:ph idx="1"/>
          </p:nvPr>
        </p:nvSpPr>
        <p:spPr/>
        <p:txBody>
          <a:bodyPr>
            <a:normAutofit fontScale="92500"/>
          </a:bodyPr>
          <a:lstStyle/>
          <a:p>
            <a:pPr marL="457200" indent="-457200">
              <a:buAutoNum type="arabicPeriod"/>
            </a:pPr>
            <a:r>
              <a:rPr lang="en-US" sz="2400" dirty="0">
                <a:cs typeface="Arial"/>
              </a:rPr>
              <a:t>A healthy diet and exercise is essential for preventing dangerous heart diseases. The data shows that people who are experiencing any varieties of chest pain should book consultations with a doctor with certain chest pain types being more concerning.</a:t>
            </a:r>
          </a:p>
          <a:p>
            <a:pPr marL="457200" indent="-457200">
              <a:buAutoNum type="arabicPeriod"/>
            </a:pPr>
            <a:r>
              <a:rPr lang="en-US" sz="2400" dirty="0">
                <a:cs typeface="Arial"/>
              </a:rPr>
              <a:t>Alarming number of people were found to have unhealthy levels of </a:t>
            </a:r>
            <a:r>
              <a:rPr lang="en-US" sz="2400" err="1">
                <a:cs typeface="Arial"/>
              </a:rPr>
              <a:t>cholestrol</a:t>
            </a:r>
            <a:r>
              <a:rPr lang="en-US" sz="2400" dirty="0">
                <a:cs typeface="Arial"/>
              </a:rPr>
              <a:t> and blood sugar. These are issues to be </a:t>
            </a:r>
            <a:r>
              <a:rPr lang="en-US" sz="2400" err="1">
                <a:cs typeface="Arial"/>
              </a:rPr>
              <a:t>adressed</a:t>
            </a:r>
            <a:r>
              <a:rPr lang="en-US" sz="2400" dirty="0">
                <a:cs typeface="Arial"/>
              </a:rPr>
              <a:t> urgently for good health. </a:t>
            </a:r>
          </a:p>
        </p:txBody>
      </p:sp>
    </p:spTree>
    <p:extLst>
      <p:ext uri="{BB962C8B-B14F-4D97-AF65-F5344CB8AC3E}">
        <p14:creationId xmlns:p14="http://schemas.microsoft.com/office/powerpoint/2010/main" val="3224809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Madison</vt:lpstr>
      <vt:lpstr>Heart Disease Analysis</vt:lpstr>
      <vt:lpstr>                           Initial Analysis</vt:lpstr>
      <vt:lpstr>Fasting Blood Sugar</vt:lpstr>
      <vt:lpstr>Resting Blood Pressure</vt:lpstr>
      <vt:lpstr>Age Count</vt:lpstr>
      <vt:lpstr>Chest Pain</vt:lpstr>
      <vt:lpstr>Cholesterol</vt:lpstr>
      <vt:lpstr>Concluding 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209</cp:revision>
  <dcterms:created xsi:type="dcterms:W3CDTF">2013-07-15T20:26:40Z</dcterms:created>
  <dcterms:modified xsi:type="dcterms:W3CDTF">2024-07-08T11:06:22Z</dcterms:modified>
</cp:coreProperties>
</file>