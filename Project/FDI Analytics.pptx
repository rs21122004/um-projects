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417135-01C6-4FF8-A9C4-718FE78836DD}" v="2628" dt="2024-07-10T09:23:50.3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dirty="0"/>
              <a:t>Click to edit Master title style</a:t>
            </a:r>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7/10/2024</a:t>
            </a:fld>
            <a:endParaRPr lang="en-US" dirty="0"/>
          </a:p>
        </p:txBody>
      </p:sp>
      <p:sp>
        <p:nvSpPr>
          <p:cNvPr id="5" name="Footer Placeholder 4"/>
          <p:cNvSpPr>
            <a:spLocks noGrp="1"/>
          </p:cNvSpPr>
          <p:nvPr>
            <p:ph type="ftr" sz="quarter" idx="11"/>
          </p:nvPr>
        </p:nvSpPr>
        <p:spPr>
          <a:xfrm>
            <a:off x="5332412" y="5883275"/>
            <a:ext cx="4324044" cy="365125"/>
          </a:xfrm>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639488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7/10/2024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951856" y="5867131"/>
            <a:ext cx="551167"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9808009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dirty="0"/>
              <a:t>Click to edit Master title style</a:t>
            </a:r>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8734816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dirty="0"/>
              <a:t>Click to edit Master title style</a:t>
            </a:r>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7/10/2024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84065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7/10/2024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2617132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7/10/2024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5408254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7/10/2024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9512396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dirty="0"/>
              <a:t>Click to edit Master title style</a:t>
            </a:r>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7/10/2024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806093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dirty="0"/>
              <a:t>Click to edit Master title style</a:t>
            </a:r>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7/10/2024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8365146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dirty="0"/>
              <a:t>Click to edit Master title style</a:t>
            </a:r>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7/10/2024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3053254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dirty="0"/>
              <a:t>Click to edit Master title style</a:t>
            </a:r>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0514926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dirty="0"/>
              <a:t>Click to edit Master title style</a:t>
            </a:r>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9145916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dirty="0"/>
              <a:t>Click to edit Master title style</a:t>
            </a:r>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8657304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dirty="0"/>
              <a:t>Click to edit Master title style</a:t>
            </a:r>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dirty="0"/>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1933366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dirty="0"/>
              <a:t>Click to edit Master title style</a:t>
            </a:r>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dirty="0"/>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349213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7/10/2024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5672335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7/10/2024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5049511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7/10/2024</a:t>
            </a:fld>
            <a:endParaRPr lang="en-US"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518652120"/>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 id="2147483739" r:id="rId13"/>
    <p:sldLayoutId id="2147483740" r:id="rId14"/>
    <p:sldLayoutId id="2147483741" r:id="rId15"/>
    <p:sldLayoutId id="2147483742" r:id="rId16"/>
    <p:sldLayoutId id="2147483743"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FDI Investment Analysis</a:t>
            </a:r>
          </a:p>
        </p:txBody>
      </p:sp>
      <p:sp>
        <p:nvSpPr>
          <p:cNvPr id="3" name="Subtitle 2"/>
          <p:cNvSpPr>
            <a:spLocks noGrp="1"/>
          </p:cNvSpPr>
          <p:nvPr>
            <p:ph type="subTitle" idx="1"/>
          </p:nvPr>
        </p:nvSpPr>
        <p:spPr/>
        <p:txBody>
          <a:bodyPr/>
          <a:lstStyle/>
          <a:p>
            <a:r>
              <a:rPr lang="en-US"/>
              <a:t>By Rishi Sharma</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539D1-CBD1-8768-4E75-AD209B0E43CB}"/>
              </a:ext>
            </a:extLst>
          </p:cNvPr>
          <p:cNvSpPr>
            <a:spLocks noGrp="1"/>
          </p:cNvSpPr>
          <p:nvPr>
            <p:ph type="title"/>
          </p:nvPr>
        </p:nvSpPr>
        <p:spPr>
          <a:xfrm>
            <a:off x="1484311" y="848557"/>
            <a:ext cx="10018713" cy="1819182"/>
          </a:xfrm>
        </p:spPr>
        <p:txBody>
          <a:bodyPr/>
          <a:lstStyle/>
          <a:p>
            <a:r>
              <a:rPr lang="en-US" dirty="0"/>
              <a:t>Initial Analysis of Sectors </a:t>
            </a:r>
          </a:p>
        </p:txBody>
      </p:sp>
      <p:sp>
        <p:nvSpPr>
          <p:cNvPr id="3" name="Content Placeholder 2">
            <a:extLst>
              <a:ext uri="{FF2B5EF4-FFF2-40B4-BE49-F238E27FC236}">
                <a16:creationId xmlns:a16="http://schemas.microsoft.com/office/drawing/2014/main" id="{6BFBAFAD-D264-7949-8D28-12F0052DFFD4}"/>
              </a:ext>
            </a:extLst>
          </p:cNvPr>
          <p:cNvSpPr>
            <a:spLocks noGrp="1"/>
          </p:cNvSpPr>
          <p:nvPr>
            <p:ph idx="1"/>
          </p:nvPr>
        </p:nvSpPr>
        <p:spPr/>
        <p:txBody>
          <a:bodyPr>
            <a:normAutofit fontScale="92500"/>
          </a:bodyPr>
          <a:lstStyle/>
          <a:p>
            <a:r>
              <a:rPr lang="en-US" dirty="0"/>
              <a:t>From the bar graph of the financial year 2000-01, the sectors with the most investment were Miscellaneous Industries, Computer Software and Hardware, Automobile Industry, Telecommunications, Chemicals (Other than fertilizers).</a:t>
            </a:r>
            <a:endParaRPr lang="en-US"/>
          </a:p>
          <a:p>
            <a:pPr>
              <a:buClr>
                <a:srgbClr val="1287C3"/>
              </a:buClr>
            </a:pPr>
            <a:r>
              <a:rPr lang="en-US" dirty="0"/>
              <a:t>In the financial year 2004-05 there was a bigger boom in the IT industry with Computer Software and Hardware becoming the sector with the biggest investment. It is followed by the closely affiliated Services Sector which is followed by Drugs and Pharmaceuticals,  Consultancy Services,  Metalurgical Industries.</a:t>
            </a:r>
          </a:p>
        </p:txBody>
      </p:sp>
    </p:spTree>
    <p:extLst>
      <p:ext uri="{BB962C8B-B14F-4D97-AF65-F5344CB8AC3E}">
        <p14:creationId xmlns:p14="http://schemas.microsoft.com/office/powerpoint/2010/main" val="31035722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F7FA-CF91-4C24-6699-80E4D485FAF3}"/>
              </a:ext>
            </a:extLst>
          </p:cNvPr>
          <p:cNvSpPr>
            <a:spLocks noGrp="1"/>
          </p:cNvSpPr>
          <p:nvPr>
            <p:ph type="title"/>
          </p:nvPr>
        </p:nvSpPr>
        <p:spPr>
          <a:xfrm>
            <a:off x="1484311" y="256713"/>
            <a:ext cx="10018713" cy="1234735"/>
          </a:xfrm>
        </p:spPr>
        <p:txBody>
          <a:bodyPr/>
          <a:lstStyle/>
          <a:p>
            <a:r>
              <a:rPr lang="en-US" dirty="0"/>
              <a:t>Growth and Downfall of Certain Sectors</a:t>
            </a:r>
          </a:p>
        </p:txBody>
      </p:sp>
      <p:sp>
        <p:nvSpPr>
          <p:cNvPr id="3" name="Content Placeholder 2">
            <a:extLst>
              <a:ext uri="{FF2B5EF4-FFF2-40B4-BE49-F238E27FC236}">
                <a16:creationId xmlns:a16="http://schemas.microsoft.com/office/drawing/2014/main" id="{FB44C9F5-96EE-0903-4BFC-565F5C5466C1}"/>
              </a:ext>
            </a:extLst>
          </p:cNvPr>
          <p:cNvSpPr>
            <a:spLocks noGrp="1"/>
          </p:cNvSpPr>
          <p:nvPr>
            <p:ph idx="1"/>
          </p:nvPr>
        </p:nvSpPr>
        <p:spPr/>
        <p:txBody>
          <a:bodyPr vert="horz" lIns="91440" tIns="45720" rIns="91440" bIns="45720" rtlCol="0" anchor="ctr">
            <a:noAutofit/>
          </a:bodyPr>
          <a:lstStyle/>
          <a:p>
            <a:r>
              <a:rPr lang="en-US" dirty="0"/>
              <a:t>The miscellaneous industries sector had the biggest fall in the first 4 years after the first financial year.</a:t>
            </a:r>
          </a:p>
          <a:p>
            <a:pPr>
              <a:buClr>
                <a:srgbClr val="1287C3"/>
              </a:buClr>
            </a:pPr>
            <a:r>
              <a:rPr lang="en-US" dirty="0"/>
              <a:t>Computer Software and Hardware had the largest upsurge owing to investment from multinational software companies.</a:t>
            </a:r>
          </a:p>
          <a:p>
            <a:pPr>
              <a:buClr>
                <a:srgbClr val="1287C3"/>
              </a:buClr>
            </a:pPr>
            <a:r>
              <a:rPr lang="en-US" dirty="0"/>
              <a:t>Significant growth was seen in Drugs and Pharmaceuticals and Metalurgical industries.</a:t>
            </a:r>
          </a:p>
          <a:p>
            <a:pPr>
              <a:buClr>
                <a:srgbClr val="1287C3"/>
              </a:buClr>
            </a:pPr>
            <a:r>
              <a:rPr lang="en-US" dirty="0"/>
              <a:t>Investment in the automobile industry remained stagnant through these years.</a:t>
            </a:r>
          </a:p>
          <a:p>
            <a:pPr>
              <a:buClr>
                <a:srgbClr val="1287C3"/>
              </a:buClr>
            </a:pPr>
            <a:r>
              <a:rPr lang="en-US" dirty="0"/>
              <a:t>Growth was also present in the Construction Development Industry and the Fermentation Industry.</a:t>
            </a:r>
          </a:p>
          <a:p>
            <a:pPr>
              <a:buClr>
                <a:srgbClr val="1287C3"/>
              </a:buClr>
            </a:pPr>
            <a:endParaRPr lang="en-US" dirty="0"/>
          </a:p>
          <a:p>
            <a:pPr>
              <a:buClr>
                <a:srgbClr val="1287C3"/>
              </a:buClr>
            </a:pPr>
            <a:endParaRPr lang="en-US" dirty="0"/>
          </a:p>
        </p:txBody>
      </p:sp>
    </p:spTree>
    <p:extLst>
      <p:ext uri="{BB962C8B-B14F-4D97-AF65-F5344CB8AC3E}">
        <p14:creationId xmlns:p14="http://schemas.microsoft.com/office/powerpoint/2010/main" val="30526730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AFA93-2633-CD99-C3E9-20B5E0B23C0D}"/>
              </a:ext>
            </a:extLst>
          </p:cNvPr>
          <p:cNvSpPr>
            <a:spLocks noGrp="1"/>
          </p:cNvSpPr>
          <p:nvPr>
            <p:ph type="title"/>
          </p:nvPr>
        </p:nvSpPr>
        <p:spPr/>
        <p:txBody>
          <a:bodyPr/>
          <a:lstStyle/>
          <a:p>
            <a:r>
              <a:rPr lang="en-US" dirty="0"/>
              <a:t>Second Quarter Analysis</a:t>
            </a:r>
          </a:p>
        </p:txBody>
      </p:sp>
      <p:sp>
        <p:nvSpPr>
          <p:cNvPr id="3" name="Content Placeholder 2">
            <a:extLst>
              <a:ext uri="{FF2B5EF4-FFF2-40B4-BE49-F238E27FC236}">
                <a16:creationId xmlns:a16="http://schemas.microsoft.com/office/drawing/2014/main" id="{6963ABB2-5CB7-1EA7-75B2-B4B743B25F4A}"/>
              </a:ext>
            </a:extLst>
          </p:cNvPr>
          <p:cNvSpPr>
            <a:spLocks noGrp="1"/>
          </p:cNvSpPr>
          <p:nvPr>
            <p:ph idx="1"/>
          </p:nvPr>
        </p:nvSpPr>
        <p:spPr/>
        <p:txBody>
          <a:bodyPr/>
          <a:lstStyle/>
          <a:p>
            <a:r>
              <a:rPr lang="en-US" dirty="0"/>
              <a:t>In the second quarter of the time duration of the dataset from 2008-09, the industry with the most investment remained the service sector. It is followed by Construction and Development, Drugs and Pharmaceuticals, Telecommunications, Computer Software and Hardware.</a:t>
            </a:r>
          </a:p>
          <a:p>
            <a:pPr>
              <a:buClr>
                <a:srgbClr val="1287C3"/>
              </a:buClr>
            </a:pPr>
            <a:r>
              <a:rPr lang="en-US" dirty="0"/>
              <a:t>From the financial year 2012-13, the biggest sectors was also the service sector. After it, Hotel and Tourism, </a:t>
            </a:r>
            <a:r>
              <a:rPr lang="en-US"/>
              <a:t>Automobile Industry, Metallurgical Industries, Construction Development.</a:t>
            </a:r>
            <a:endParaRPr lang="en-US" dirty="0"/>
          </a:p>
          <a:p>
            <a:pPr>
              <a:buClr>
                <a:srgbClr val="1287C3"/>
              </a:buClr>
            </a:pPr>
            <a:endParaRPr lang="en-US" dirty="0"/>
          </a:p>
          <a:p>
            <a:pPr>
              <a:buClr>
                <a:srgbClr val="1287C3"/>
              </a:buClr>
            </a:pPr>
            <a:endParaRPr lang="en-US" dirty="0"/>
          </a:p>
        </p:txBody>
      </p:sp>
    </p:spTree>
    <p:extLst>
      <p:ext uri="{BB962C8B-B14F-4D97-AF65-F5344CB8AC3E}">
        <p14:creationId xmlns:p14="http://schemas.microsoft.com/office/powerpoint/2010/main" val="20048931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9F74F-DFDD-209F-C761-EF92A7B40910}"/>
              </a:ext>
            </a:extLst>
          </p:cNvPr>
          <p:cNvSpPr>
            <a:spLocks noGrp="1"/>
          </p:cNvSpPr>
          <p:nvPr>
            <p:ph type="title"/>
          </p:nvPr>
        </p:nvSpPr>
        <p:spPr/>
        <p:txBody>
          <a:bodyPr/>
          <a:lstStyle/>
          <a:p>
            <a:r>
              <a:rPr lang="en-US" dirty="0"/>
              <a:t>Growth and Downfall Analysis</a:t>
            </a:r>
          </a:p>
        </p:txBody>
      </p:sp>
      <p:sp>
        <p:nvSpPr>
          <p:cNvPr id="3" name="Content Placeholder 2">
            <a:extLst>
              <a:ext uri="{FF2B5EF4-FFF2-40B4-BE49-F238E27FC236}">
                <a16:creationId xmlns:a16="http://schemas.microsoft.com/office/drawing/2014/main" id="{E08960C9-B554-0CD0-39D6-E988218597B6}"/>
              </a:ext>
            </a:extLst>
          </p:cNvPr>
          <p:cNvSpPr>
            <a:spLocks noGrp="1"/>
          </p:cNvSpPr>
          <p:nvPr>
            <p:ph idx="1"/>
          </p:nvPr>
        </p:nvSpPr>
        <p:spPr/>
        <p:txBody>
          <a:bodyPr/>
          <a:lstStyle/>
          <a:p>
            <a:r>
              <a:rPr lang="en-US" dirty="0"/>
              <a:t>Hotel and Tourism was the industry which gained the most momentum in the second quarter becoming the sector with the second highest investment.</a:t>
            </a:r>
            <a:endParaRPr lang="en-US"/>
          </a:p>
          <a:p>
            <a:pPr>
              <a:buClr>
                <a:srgbClr val="1287C3"/>
              </a:buClr>
            </a:pPr>
            <a:r>
              <a:rPr lang="en-US" dirty="0"/>
              <a:t>The Telecommunications, Drugs and Pharmaceuticals industry witnessed a downwards surge while the Automobile industry witnessed an upsurge.</a:t>
            </a:r>
          </a:p>
          <a:p>
            <a:pPr>
              <a:buClr>
                <a:srgbClr val="1287C3"/>
              </a:buClr>
            </a:pPr>
            <a:r>
              <a:rPr lang="en-US" dirty="0"/>
              <a:t>Investment in other industries remained relatively stagnant.</a:t>
            </a:r>
          </a:p>
          <a:p>
            <a:pPr>
              <a:buClr>
                <a:srgbClr val="1287C3"/>
              </a:buClr>
            </a:pPr>
            <a:endParaRPr lang="en-US" dirty="0"/>
          </a:p>
        </p:txBody>
      </p:sp>
    </p:spTree>
    <p:extLst>
      <p:ext uri="{BB962C8B-B14F-4D97-AF65-F5344CB8AC3E}">
        <p14:creationId xmlns:p14="http://schemas.microsoft.com/office/powerpoint/2010/main" val="12219178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DC9B8-8D42-F220-927A-447517DEE37A}"/>
              </a:ext>
            </a:extLst>
          </p:cNvPr>
          <p:cNvSpPr>
            <a:spLocks noGrp="1"/>
          </p:cNvSpPr>
          <p:nvPr>
            <p:ph type="title"/>
          </p:nvPr>
        </p:nvSpPr>
        <p:spPr/>
        <p:txBody>
          <a:bodyPr/>
          <a:lstStyle/>
          <a:p>
            <a:r>
              <a:rPr lang="en-US" dirty="0"/>
              <a:t>Third Quarter Analysis</a:t>
            </a:r>
          </a:p>
        </p:txBody>
      </p:sp>
      <p:sp>
        <p:nvSpPr>
          <p:cNvPr id="3" name="Content Placeholder 2">
            <a:extLst>
              <a:ext uri="{FF2B5EF4-FFF2-40B4-BE49-F238E27FC236}">
                <a16:creationId xmlns:a16="http://schemas.microsoft.com/office/drawing/2014/main" id="{535745BD-39FF-50B9-EB38-F3810DEDABFD}"/>
              </a:ext>
            </a:extLst>
          </p:cNvPr>
          <p:cNvSpPr>
            <a:spLocks noGrp="1"/>
          </p:cNvSpPr>
          <p:nvPr>
            <p:ph idx="1"/>
          </p:nvPr>
        </p:nvSpPr>
        <p:spPr/>
        <p:txBody>
          <a:bodyPr/>
          <a:lstStyle/>
          <a:p>
            <a:r>
              <a:rPr lang="en-US" dirty="0"/>
              <a:t>The service sector along with hotel and tourism continues to dominate the industry with the highest foreign direct investments. Meanwhile the Drugs and Pharmaceuticals industry witnessed a massive decline in the investments given to it. </a:t>
            </a:r>
            <a:endParaRPr lang="en-US"/>
          </a:p>
          <a:p>
            <a:pPr>
              <a:buClr>
                <a:srgbClr val="1287C3"/>
              </a:buClr>
            </a:pPr>
            <a:r>
              <a:rPr lang="en-US" dirty="0"/>
              <a:t>The investment in other sectors remained largely similar to as what it was before in the previous quarter.</a:t>
            </a:r>
          </a:p>
        </p:txBody>
      </p:sp>
    </p:spTree>
    <p:extLst>
      <p:ext uri="{BB962C8B-B14F-4D97-AF65-F5344CB8AC3E}">
        <p14:creationId xmlns:p14="http://schemas.microsoft.com/office/powerpoint/2010/main" val="1899456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A12EA-8FAD-DC28-1F1A-C4AB395FA5EB}"/>
              </a:ext>
            </a:extLst>
          </p:cNvPr>
          <p:cNvSpPr>
            <a:spLocks noGrp="1"/>
          </p:cNvSpPr>
          <p:nvPr>
            <p:ph type="title"/>
          </p:nvPr>
        </p:nvSpPr>
        <p:spPr/>
        <p:txBody>
          <a:bodyPr/>
          <a:lstStyle/>
          <a:p>
            <a:r>
              <a:rPr lang="en-US" dirty="0"/>
              <a:t>Investment distribution in latest years</a:t>
            </a:r>
          </a:p>
        </p:txBody>
      </p:sp>
      <p:sp>
        <p:nvSpPr>
          <p:cNvPr id="3" name="Content Placeholder 2">
            <a:extLst>
              <a:ext uri="{FF2B5EF4-FFF2-40B4-BE49-F238E27FC236}">
                <a16:creationId xmlns:a16="http://schemas.microsoft.com/office/drawing/2014/main" id="{C9391DDD-4D45-0236-BF3A-85344079AB52}"/>
              </a:ext>
            </a:extLst>
          </p:cNvPr>
          <p:cNvSpPr>
            <a:spLocks noGrp="1"/>
          </p:cNvSpPr>
          <p:nvPr>
            <p:ph idx="1"/>
          </p:nvPr>
        </p:nvSpPr>
        <p:spPr/>
        <p:txBody>
          <a:bodyPr>
            <a:normAutofit lnSpcReduction="10000"/>
          </a:bodyPr>
          <a:lstStyle/>
          <a:p>
            <a:r>
              <a:rPr lang="en-US" dirty="0"/>
              <a:t>In the latest years the widest distribution of investment was seen in the metallurgical industry followed by power and </a:t>
            </a:r>
            <a:r>
              <a:rPr lang="en-US" err="1"/>
              <a:t>non conventional</a:t>
            </a:r>
            <a:r>
              <a:rPr lang="en-US" dirty="0"/>
              <a:t> energy sources industry. This highlights the gradual shift that is being aimed towards green energy and the measures that various multinational companies are taking to ensure this inevitable change.</a:t>
            </a:r>
          </a:p>
          <a:p>
            <a:pPr>
              <a:buClr>
                <a:srgbClr val="1287C3"/>
              </a:buClr>
            </a:pPr>
            <a:r>
              <a:rPr lang="en-US" dirty="0"/>
              <a:t>This fact is also highlighted by the low investment in the coal production industry indicating the shift that is taking place to renewables sources of energy.</a:t>
            </a:r>
          </a:p>
        </p:txBody>
      </p:sp>
    </p:spTree>
    <p:extLst>
      <p:ext uri="{BB962C8B-B14F-4D97-AF65-F5344CB8AC3E}">
        <p14:creationId xmlns:p14="http://schemas.microsoft.com/office/powerpoint/2010/main" val="6805493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406A2-AD97-7E9C-C62D-FD75DD218D7D}"/>
              </a:ext>
            </a:extLst>
          </p:cNvPr>
          <p:cNvSpPr>
            <a:spLocks noGrp="1"/>
          </p:cNvSpPr>
          <p:nvPr>
            <p:ph type="title"/>
          </p:nvPr>
        </p:nvSpPr>
        <p:spPr/>
        <p:txBody>
          <a:bodyPr/>
          <a:lstStyle/>
          <a:p>
            <a:r>
              <a:rPr lang="en-US" dirty="0"/>
              <a:t>Concluding Remarks</a:t>
            </a:r>
          </a:p>
        </p:txBody>
      </p:sp>
      <p:sp>
        <p:nvSpPr>
          <p:cNvPr id="3" name="Content Placeholder 2">
            <a:extLst>
              <a:ext uri="{FF2B5EF4-FFF2-40B4-BE49-F238E27FC236}">
                <a16:creationId xmlns:a16="http://schemas.microsoft.com/office/drawing/2014/main" id="{E24A8356-960A-992D-475C-421248AB560E}"/>
              </a:ext>
            </a:extLst>
          </p:cNvPr>
          <p:cNvSpPr>
            <a:spLocks noGrp="1"/>
          </p:cNvSpPr>
          <p:nvPr>
            <p:ph idx="1"/>
          </p:nvPr>
        </p:nvSpPr>
        <p:spPr/>
        <p:txBody>
          <a:bodyPr>
            <a:normAutofit fontScale="85000" lnSpcReduction="10000"/>
          </a:bodyPr>
          <a:lstStyle/>
          <a:p>
            <a:r>
              <a:rPr lang="en-US" dirty="0"/>
              <a:t>We can conclude the analysis of this dataset by highlighting that in the initial quarters, the highest growth was seen in the IT and Software sector and its closely affiliated service sector. There was also a temporary period where huge investments were drawn into construction and development with the growth of the real estate market. The automobile, chemicals industry witnessed a steady </a:t>
            </a:r>
            <a:r>
              <a:rPr lang="en-US" err="1"/>
              <a:t>downsurge</a:t>
            </a:r>
            <a:r>
              <a:rPr lang="en-US" dirty="0"/>
              <a:t> with </a:t>
            </a:r>
            <a:r>
              <a:rPr lang="en-US"/>
              <a:t>the growth of national companies lowering foreign direct investment.</a:t>
            </a:r>
            <a:endParaRPr lang="en-US" dirty="0"/>
          </a:p>
          <a:p>
            <a:pPr>
              <a:buClr>
                <a:srgbClr val="1287C3"/>
              </a:buClr>
            </a:pPr>
            <a:r>
              <a:rPr lang="en-US" dirty="0"/>
              <a:t>It is projected that the service sector will continue to grow with the growing </a:t>
            </a:r>
            <a:r>
              <a:rPr lang="en-US"/>
              <a:t>population and new sectors such as non conventional energy and power will eventually dominate the market as coal production is gradually minimized by countries across the world.</a:t>
            </a:r>
            <a:endParaRPr lang="en-US" dirty="0"/>
          </a:p>
        </p:txBody>
      </p:sp>
    </p:spTree>
    <p:extLst>
      <p:ext uri="{BB962C8B-B14F-4D97-AF65-F5344CB8AC3E}">
        <p14:creationId xmlns:p14="http://schemas.microsoft.com/office/powerpoint/2010/main" val="409467430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Parallax</vt:lpstr>
      <vt:lpstr>FDI Investment Analysis</vt:lpstr>
      <vt:lpstr>Initial Analysis of Sectors </vt:lpstr>
      <vt:lpstr>Growth and Downfall of Certain Sectors</vt:lpstr>
      <vt:lpstr>Second Quarter Analysis</vt:lpstr>
      <vt:lpstr>Growth and Downfall Analysis</vt:lpstr>
      <vt:lpstr>Third Quarter Analysis</vt:lpstr>
      <vt:lpstr>Investment distribution in latest years</vt:lpstr>
      <vt:lpstr>Concluding Remarks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268</cp:revision>
  <dcterms:created xsi:type="dcterms:W3CDTF">2024-07-08T07:46:00Z</dcterms:created>
  <dcterms:modified xsi:type="dcterms:W3CDTF">2024-07-10T09:24:19Z</dcterms:modified>
</cp:coreProperties>
</file>